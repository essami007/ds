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ENCG SETTAT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École Nationale de Commerce et de Gestion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Présentation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L'ENCG Settat</a:t>
            </a:r>
          </a:p>
          <a:p>
            <a:pPr lvl="1">
              <a:defRPr sz="2400"/>
            </a:pPr>
            <a:r>
              <a:t>Établissement public d'enseignement supérieur</a:t>
            </a:r>
          </a:p>
          <a:p>
            <a:pPr lvl="1">
              <a:defRPr sz="2400"/>
            </a:pPr>
            <a:r>
              <a:t>Créée en 2004</a:t>
            </a:r>
          </a:p>
          <a:p>
            <a:pPr lvl="1">
              <a:defRPr sz="2400"/>
            </a:pPr>
            <a:r>
              <a:t>Fait partie du réseau des ENCG du Maroc</a:t>
            </a:r>
          </a:p>
          <a:p>
            <a:pPr lvl="1">
              <a:defRPr sz="2400"/>
            </a:pPr>
            <a:r>
              <a:t>Formation en management et gestion</a:t>
            </a:r>
          </a:p>
          <a:p>
            <a:pPr lvl="1">
              <a:defRPr sz="2400"/>
            </a:pPr>
            <a:r>
              <a:t>Située à Settat, région de Casablanca-Settat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Mission et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Mission</a:t>
            </a:r>
          </a:p>
          <a:p>
            <a:pPr lvl="1">
              <a:defRPr sz="2200"/>
            </a:pPr>
            <a:r>
              <a:t>Former des cadres compétents en management</a:t>
            </a:r>
          </a:p>
          <a:p>
            <a:pPr lvl="1">
              <a:defRPr sz="2200"/>
            </a:pPr>
            <a:r>
              <a:t>Développer les compétences entrepreneuriales</a:t>
            </a:r>
          </a:p>
          <a:p>
            <a:pPr lvl="1">
              <a:defRPr sz="2200"/>
            </a:pPr>
            <a:r>
              <a:t>Promouvoir la recherche scientifique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Vision</a:t>
            </a:r>
          </a:p>
          <a:p>
            <a:pPr lvl="1">
              <a:defRPr sz="2200"/>
            </a:pPr>
            <a:r>
              <a:t>Être une école de référence en Afrique</a:t>
            </a:r>
          </a:p>
          <a:p>
            <a:pPr lvl="1">
              <a:defRPr sz="2200"/>
            </a:pPr>
            <a:r>
              <a:t>Excellence académique et professionnelle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Formations Proposées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Cycle Fondamental (3 ans)</a:t>
            </a:r>
          </a:p>
          <a:p>
            <a:pPr lvl="1">
              <a:defRPr sz="2200"/>
            </a:pPr>
            <a:r>
              <a:t>Formation générale en management</a:t>
            </a:r>
          </a:p>
          <a:p>
            <a:pPr lvl="1">
              <a:defRPr sz="2200"/>
            </a:pPr>
            <a:r>
              <a:t>Diplôme de Licence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Cycle de Spécialisation (2 ans)</a:t>
            </a:r>
          </a:p>
          <a:p>
            <a:pPr lvl="1">
              <a:defRPr sz="2200"/>
            </a:pPr>
            <a:r>
              <a:t>Finance et Comptabilité</a:t>
            </a:r>
          </a:p>
          <a:p>
            <a:pPr lvl="1">
              <a:defRPr sz="2200"/>
            </a:pPr>
            <a:r>
              <a:t>Marketing et Action Commerciale</a:t>
            </a:r>
          </a:p>
          <a:p>
            <a:pPr lvl="1">
              <a:defRPr sz="2200"/>
            </a:pPr>
            <a:r>
              <a:t>Management des Ressources Humaines</a:t>
            </a:r>
          </a:p>
          <a:p>
            <a:pPr lvl="1">
              <a:defRPr sz="2200"/>
            </a:pPr>
            <a:r>
              <a:t>Gestion des Systèmes d'Information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Conditions d'Admission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Cycle Fondamental</a:t>
            </a:r>
          </a:p>
          <a:p>
            <a:pPr lvl="1">
              <a:defRPr sz="2400"/>
            </a:pPr>
            <a:r>
              <a:t>Baccalauréat (toutes filières)</a:t>
            </a:r>
          </a:p>
          <a:p>
            <a:pPr lvl="1">
              <a:defRPr sz="2400"/>
            </a:pPr>
            <a:r>
              <a:t>Concours national d'accès</a:t>
            </a:r>
          </a:p>
          <a:p>
            <a:pPr lvl="1">
              <a:defRPr sz="2400"/>
            </a:pPr>
            <a:r>
              <a:t>Épreuves écrites et orales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Cycle de Spécialisation</a:t>
            </a:r>
          </a:p>
          <a:p>
            <a:pPr lvl="1">
              <a:defRPr sz="2400"/>
            </a:pPr>
            <a:r>
              <a:t>Validation du cycle fondamental</a:t>
            </a:r>
          </a:p>
          <a:p>
            <a:pPr lvl="1">
              <a:defRPr sz="2400"/>
            </a:pPr>
            <a:r>
              <a:t>Choix de spécialisation selon mérite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Vie Étudiante et Activités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Clubs et Associations</a:t>
            </a:r>
          </a:p>
          <a:p>
            <a:pPr lvl="1">
              <a:defRPr sz="2400"/>
            </a:pPr>
            <a:r>
              <a:t>Club entrepreneuriat</a:t>
            </a:r>
          </a:p>
          <a:p>
            <a:pPr lvl="1">
              <a:defRPr sz="2400"/>
            </a:pPr>
            <a:r>
              <a:t>Club culturel et artistique</a:t>
            </a:r>
          </a:p>
          <a:p>
            <a:pPr lvl="1">
              <a:defRPr sz="2400"/>
            </a:pPr>
            <a:r>
              <a:t>Club sportif</a:t>
            </a:r>
          </a:p>
          <a:p>
            <a:pPr lvl="1">
              <a:defRPr sz="2400"/>
            </a:pPr>
            <a:r>
              <a:t>Événements et séminaires</a:t>
            </a:r>
          </a:p>
          <a:p>
            <a:pPr lvl="1">
              <a:defRPr sz="2400"/>
            </a:pPr>
            <a:r>
              <a:t>Stages en entreprise</a:t>
            </a:r>
          </a:p>
          <a:p>
            <a:pPr lvl="1">
              <a:defRPr sz="2400"/>
            </a:pPr>
            <a:r>
              <a:t>Projets de fin d'études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Partenariats et Débouchés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Partenariats</a:t>
            </a:r>
          </a:p>
          <a:p>
            <a:pPr lvl="1">
              <a:defRPr sz="2200"/>
            </a:pPr>
            <a:r>
              <a:t>Entreprises nationales et internationales</a:t>
            </a:r>
          </a:p>
          <a:p>
            <a:pPr lvl="1">
              <a:defRPr sz="2200"/>
            </a:pPr>
            <a:r>
              <a:t>Universités étrangères</a:t>
            </a:r>
          </a:p>
          <a:p>
            <a:pPr lvl="1">
              <a:defRPr sz="2200"/>
            </a:pPr>
            <a:r>
              <a:t>Programmes d'échange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Débouchés Professionnels</a:t>
            </a:r>
          </a:p>
          <a:p>
            <a:pPr lvl="1">
              <a:defRPr sz="2200"/>
            </a:pPr>
            <a:r>
              <a:t>Cadres en entreprises</a:t>
            </a:r>
          </a:p>
          <a:p>
            <a:pPr lvl="1">
              <a:defRPr sz="2200"/>
            </a:pPr>
            <a:r>
              <a:t>Consultants</a:t>
            </a:r>
          </a:p>
          <a:p>
            <a:pPr lvl="1">
              <a:defRPr sz="2200"/>
            </a:pPr>
            <a:r>
              <a:t>Entrepreneurs</a:t>
            </a:r>
          </a:p>
          <a:p>
            <a:pPr lvl="1">
              <a:defRPr sz="2200"/>
            </a:pPr>
            <a:r>
              <a:t>Poursuite d'études (Doctorat, MBA)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Infrastructures et Équipements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Campus moderne et équipé</a:t>
            </a:r>
          </a:p>
          <a:p>
            <a:pPr lvl="1">
              <a:defRPr sz="2400"/>
            </a:pPr>
            <a:r>
              <a:t>Salles de cours climatisées</a:t>
            </a:r>
          </a:p>
          <a:p>
            <a:pPr lvl="1">
              <a:defRPr sz="2400"/>
            </a:pPr>
            <a:r>
              <a:t>Laboratoires informatiques</a:t>
            </a:r>
          </a:p>
          <a:p>
            <a:pPr lvl="1">
              <a:defRPr sz="2400"/>
            </a:pPr>
            <a:r>
              <a:t>Bibliothèque riche et moderne</a:t>
            </a:r>
          </a:p>
          <a:p>
            <a:pPr lvl="1">
              <a:defRPr sz="2400"/>
            </a:pPr>
            <a:r>
              <a:t>Espaces de coworking</a:t>
            </a:r>
          </a:p>
          <a:p>
            <a:pPr lvl="1">
              <a:defRPr sz="2400"/>
            </a:pPr>
            <a:r>
              <a:t>Connexion WiFi haut débit</a:t>
            </a:r>
          </a:p>
          <a:p>
            <a:pPr lvl="1">
              <a:defRPr sz="2400"/>
            </a:pPr>
            <a:r>
              <a:t>Installations sportives</a:t>
            </a:r>
          </a:p>
          <a:p>
            <a:pPr lvl="1">
              <a:defRPr sz="2400"/>
            </a:pPr>
            <a:r>
              <a:t>Cafétéria et espaces de détente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Chiffres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/>
            </a:pPr>
            <a:r>
              <a:t>Plus de 1000 étudiants</a:t>
            </a:r>
          </a:p>
          <a:p>
            <a:pPr>
              <a:defRPr sz="2600" b="1"/>
            </a:pPr>
          </a:p>
          <a:p>
            <a:pPr>
              <a:defRPr sz="2600" b="1"/>
            </a:pPr>
            <a:r>
              <a:t>Corps professoral qualifié (50+ enseignants)</a:t>
            </a:r>
          </a:p>
          <a:p>
            <a:pPr>
              <a:defRPr sz="2600" b="1"/>
            </a:pPr>
          </a:p>
          <a:p>
            <a:pPr>
              <a:defRPr sz="2600" b="1"/>
            </a:pPr>
            <a:r>
              <a:t>Taux d'insertion professionnelle élevé</a:t>
            </a:r>
          </a:p>
          <a:p>
            <a:pPr>
              <a:defRPr sz="2600" b="1"/>
            </a:pPr>
          </a:p>
          <a:p>
            <a:pPr>
              <a:defRPr sz="2600" b="1"/>
            </a:pPr>
            <a:r>
              <a:t>Réseau de plus de 3000 lauréats</a:t>
            </a:r>
          </a:p>
          <a:p>
            <a:pPr>
              <a:defRPr sz="2600" b="1"/>
            </a:pPr>
          </a:p>
          <a:p>
            <a:pPr>
              <a:defRPr sz="2600" b="1"/>
            </a:pPr>
            <a:r>
              <a:t>Nombreux partenariats nationaux et internationaux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Contact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📍 ENCG Settat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Km 3, Route de Casablanca, Settat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🌐 www.encg-settat.ma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📧 contact@encg-settat.ma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